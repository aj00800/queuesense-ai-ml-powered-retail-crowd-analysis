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1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213A"/>
                </a:solidFill>
                <a:latin typeface="Arial"/>
              </a:rPr>
              <a:t>Mean Absolute Error (people / frame)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FF6B4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B7A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Baseline
(MOG2)</c:v>
                  </c:pt>
                  <c:pt idx="1">
                    <c:v>Our CNN</c:v>
                  </c:pt>
                  <c:pt idx="2">
                    <c:v>GT Mode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7.98</c:v>
                </c:pt>
                <c:pt idx="1">
                  <c:v>3.01</c:v>
                </c:pt>
                <c:pt idx="2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1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822960"/>
            <a:ext cx="4206240" cy="420624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0"/>
            <a:ext cx="2743200" cy="2743200"/>
          </a:xfrm>
          <a:prstGeom prst="ellipse">
            <a:avLst/>
          </a:prstGeom>
          <a:solidFill>
            <a:srgbClr val="1AB7AC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1463040"/>
            <a:ext cx="1554480" cy="1554480"/>
          </a:xfrm>
          <a:prstGeom prst="ellipse">
            <a:avLst/>
          </a:prstGeom>
          <a:solidFill>
            <a:srgbClr val="FF6B45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QueueSense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AB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Retail Crowd Analysis &amp; Queue Optimization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camera frame: people count, density heatmap, and an optimal queue zone.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1AB7A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27432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 and malls need real-time crowd visibility — manual headcounts don’t scale, and CCTV footage goes largely unused for actionable insight.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901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camera frame, the system should: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accurately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exact people count per frame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density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Gaussian KDE heatmap of crowd concentration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queue zones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lowest-density open area via sliding-window search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via a trained CNN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works on new frames, no manual annotation needed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301752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729">
                <a:alpha val="18000"/>
              </a:srgbClr>
            </a:outerShdw>
          </a:effectLst>
        </p:spPr>
      </p:sp>
      <p:pic>
        <p:nvPicPr>
          <p:cNvPr id="9" name="Image 0" descr="frame_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325880"/>
            <a:ext cx="2743200" cy="2057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77840" y="3584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output: count + heatmap + queue zone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1AB7A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27432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+ EDA / Preprocessing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5400000">
              <a:srgbClr val="0F1729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247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frames, 640×480 px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5400000">
              <a:srgbClr val="0F1729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1247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13–53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51760" y="1600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per frame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5400000">
              <a:srgbClr val="0F1729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1247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600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count / frame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0" y="10515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5400000">
              <a:srgbClr val="0F1729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1247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1600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 (calibrated)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Gaussian density map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487168"/>
            <a:ext cx="32918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F1729">
                <a:alpha val="18000"/>
              </a:srgbClr>
            </a:outerShdw>
          </a:effectLst>
        </p:spPr>
      </p:sp>
      <p:pic>
        <p:nvPicPr>
          <p:cNvPr id="19" name="Image 0" descr="frame_0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624328"/>
            <a:ext cx="3017520" cy="1783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160520" y="21945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160520" y="2542032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points → per-frame Gaussian density (KDE)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adaptively shrinks in dense regions (KDTree nearest-neighbour spacing)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sum(density) = true count — preserved through every resize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dataset: ShanghaiTech Part B pretrains the CNN before Mall fine-tuning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1AB7A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27432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100584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43000"/>
            <a:ext cx="1133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1485900"/>
            <a:ext cx="320040" cy="320040"/>
          </a:xfrm>
          <a:prstGeom prst="rightArrow">
            <a:avLst/>
          </a:prstGeom>
          <a:solidFill>
            <a:srgbClr val="AEB9CC"/>
          </a:solidFill>
          <a:ln/>
        </p:spPr>
      </p:sp>
      <p:sp>
        <p:nvSpPr>
          <p:cNvPr id="8" name="Shape 6"/>
          <p:cNvSpPr/>
          <p:nvPr/>
        </p:nvSpPr>
        <p:spPr>
          <a:xfrm>
            <a:off x="2240280" y="1143000"/>
            <a:ext cx="2743200" cy="100584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13432" y="1143000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Estimation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Mode: head positions (exact)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Mode: SimpleDensityCNN (predicted)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0" y="1485900"/>
            <a:ext cx="320040" cy="320040"/>
          </a:xfrm>
          <a:prstGeom prst="rightArrow">
            <a:avLst/>
          </a:prstGeom>
          <a:solidFill>
            <a:srgbClr val="AEB9CC"/>
          </a:solidFill>
          <a:ln/>
        </p:spPr>
      </p:sp>
      <p:sp>
        <p:nvSpPr>
          <p:cNvPr id="11" name="Shape 9"/>
          <p:cNvSpPr/>
          <p:nvPr/>
        </p:nvSpPr>
        <p:spPr>
          <a:xfrm>
            <a:off x="5394960" y="1143000"/>
            <a:ext cx="1280160" cy="100584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1143000"/>
            <a:ext cx="1133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Map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1485900"/>
            <a:ext cx="320040" cy="320040"/>
          </a:xfrm>
          <a:prstGeom prst="rightArrow">
            <a:avLst/>
          </a:prstGeom>
          <a:solidFill>
            <a:srgbClr val="AEB9CC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14300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9752" y="1143000"/>
            <a:ext cx="1362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Zone Suggestion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SimpleDensityCNN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788920"/>
            <a:ext cx="3931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U-Net: encoder 16→32→64→128 channels, skip connections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conv + ReLU head enforces non-negative density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ShanghaiTech pretrain → Mall fine-tune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MSE(density) + 0.001 × |predicted count − true count|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5400000">
              <a:srgbClr val="0F1729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496312"/>
            <a:ext cx="32004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489,705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937760" y="2999232"/>
            <a:ext cx="30175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52044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5400000">
              <a:srgbClr val="0F1729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3593592"/>
            <a:ext cx="32004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1,700 / 300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37760" y="4096512"/>
            <a:ext cx="30175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frames (85/15 split)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1AB7A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27432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Evaluation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43000"/>
          <a:ext cx="42976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1143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2.6×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937760" y="19933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than the non-ML background-subtraction baseline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37760" y="26334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3.01 MAE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937760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10% relative error on counts averaging ~31 people (RMSE 3.81, epoch 9 of 12)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4160520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416052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 lightweight ~489K-parameter model, briefly fine-tuned, beats the classical baseline by a wide margin — the density-map training target (preserving exact counts) drives most of the gain, not model size.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1AB7A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27432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+ Conclusion / Future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generate_frames.py live — GT-mode heatmap (exact) vs. CNN-mode heatmap (predicted), HUD with live count + crowd alert, and the queue-zone overlay.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camera frame becomes a count, a density heatmap, and an actionable queue placement — generalizing beyond annotated data.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4787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evaluate on denser scenes (ShanghaiTech-scale crowds)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smoothing across video frames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fusion for store-wide queue optimization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0" y="1143000"/>
            <a:ext cx="3017520" cy="2331720"/>
          </a:xfrm>
          <a:prstGeom prst="roundRect">
            <a:avLst>
              <a:gd name="adj" fmla="val 2745"/>
            </a:avLst>
          </a:prstGeom>
          <a:solidFill>
            <a:srgbClr val="1C2A47"/>
          </a:solidFill>
          <a:ln/>
          <a:effectLst>
            <a:outerShdw sx="100000" sy="100000" kx="0" ky="0" algn="bl" rotWithShape="0" blurRad="127000" dist="38100" dir="5400000">
              <a:srgbClr val="0F1729">
                <a:alpha val="18000"/>
              </a:srgbClr>
            </a:outerShdw>
          </a:effectLst>
        </p:spPr>
      </p:sp>
      <p:pic>
        <p:nvPicPr>
          <p:cNvPr id="12" name="Image 0" descr="frame_00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280160"/>
            <a:ext cx="2743200" cy="2057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69280" y="3538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heatmap with crowd-level alert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QueueSense AI</dc:title>
  <dc:subject>PptxGenJS Presentation</dc:subject>
  <dc:creator>QueueSense AI</dc:creator>
  <cp:lastModifiedBy>QueueSense AI</cp:lastModifiedBy>
  <cp:revision>1</cp:revision>
  <dcterms:created xsi:type="dcterms:W3CDTF">2026-06-17T10:33:47Z</dcterms:created>
  <dcterms:modified xsi:type="dcterms:W3CDTF">2026-06-17T10:33:47Z</dcterms:modified>
</cp:coreProperties>
</file>